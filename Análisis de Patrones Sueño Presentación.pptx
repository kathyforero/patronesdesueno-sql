
<file path=[Content_Types].xml><?xml version="1.0" encoding="utf-8"?>
<Types xmlns="http://schemas.openxmlformats.org/package/2006/content-types">
  <Default Extension="bin" ContentType="image/unknown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65" r:id="rId2"/>
    <p:sldId id="257" r:id="rId3"/>
    <p:sldId id="258" r:id="rId4"/>
    <p:sldId id="259" r:id="rId5"/>
    <p:sldId id="268" r:id="rId6"/>
    <p:sldId id="264" r:id="rId7"/>
    <p:sldId id="273" r:id="rId8"/>
    <p:sldId id="272" r:id="rId9"/>
    <p:sldId id="274" r:id="rId10"/>
    <p:sldId id="270" r:id="rId11"/>
    <p:sldId id="271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>
        <p:scale>
          <a:sx n="118" d="100"/>
          <a:sy n="118" d="100"/>
        </p:scale>
        <p:origin x="1440" y="5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78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654b830463_2_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6" name="Google Shape;136;g3654b830463_2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834789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7776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FD5790-ED26-7D34-D2B2-A62E7A890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A0850D-F224-21F8-12B0-953CDE452E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4EFFBA-6C72-0575-5431-983AADC297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6029C9-8C0C-A711-D1FD-BCE6780F4B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4912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30CED-E97E-2FB1-62C4-28F70260F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8372EA-026E-25C2-1222-D33AFDA0A5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1F0B11-3132-AB74-34C9-004D7F9AF0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CEDA64-1C0E-0BDF-EA14-C5755FDC1B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5322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6CF45-0736-3187-04C6-5F7B55347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B99BE8-101B-6197-8F8A-9EE60163A7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1B62A3-192D-A933-91E5-0FC905164F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4166AF-A20A-DFEB-0AE1-FABAE1D690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1598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7901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Diapositiva de título">
    <p:bg>
      <p:bgPr>
        <a:solidFill>
          <a:srgbClr val="1C3E73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/>
          <p:nvPr/>
        </p:nvSpPr>
        <p:spPr>
          <a:xfrm rot="5400000">
            <a:off x="8539255" y="128455"/>
            <a:ext cx="259669" cy="459043"/>
          </a:xfrm>
          <a:custGeom>
            <a:avLst/>
            <a:gdLst/>
            <a:ahLst/>
            <a:cxnLst/>
            <a:rect l="l" t="t" r="r" b="b"/>
            <a:pathLst>
              <a:path w="189122" h="335417" extrusionOk="0">
                <a:moveTo>
                  <a:pt x="94561" y="0"/>
                </a:moveTo>
                <a:lnTo>
                  <a:pt x="94561" y="0"/>
                </a:lnTo>
                <a:cubicBezTo>
                  <a:pt x="146785" y="0"/>
                  <a:pt x="189122" y="42336"/>
                  <a:pt x="189122" y="94561"/>
                </a:cubicBezTo>
                <a:lnTo>
                  <a:pt x="189122" y="240856"/>
                </a:lnTo>
                <a:cubicBezTo>
                  <a:pt x="189122" y="265936"/>
                  <a:pt x="179159" y="289988"/>
                  <a:pt x="161425" y="307721"/>
                </a:cubicBezTo>
                <a:cubicBezTo>
                  <a:pt x="143692" y="325455"/>
                  <a:pt x="119640" y="335417"/>
                  <a:pt x="94561" y="335417"/>
                </a:cubicBezTo>
                <a:lnTo>
                  <a:pt x="94561" y="335417"/>
                </a:lnTo>
                <a:cubicBezTo>
                  <a:pt x="42336" y="335417"/>
                  <a:pt x="0" y="293081"/>
                  <a:pt x="0" y="240856"/>
                </a:cubicBezTo>
                <a:lnTo>
                  <a:pt x="0" y="94561"/>
                </a:lnTo>
                <a:cubicBezTo>
                  <a:pt x="0" y="69482"/>
                  <a:pt x="9963" y="45430"/>
                  <a:pt x="27696" y="27696"/>
                </a:cubicBezTo>
                <a:cubicBezTo>
                  <a:pt x="45430" y="9963"/>
                  <a:pt x="69482" y="0"/>
                  <a:pt x="94561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9525" cap="rnd" cmpd="sng">
            <a:solidFill>
              <a:srgbClr val="E3E2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14"/>
          <p:cNvSpPr txBox="1">
            <a:spLocks noGrp="1"/>
          </p:cNvSpPr>
          <p:nvPr>
            <p:ph type="ctrTitle"/>
          </p:nvPr>
        </p:nvSpPr>
        <p:spPr>
          <a:xfrm>
            <a:off x="1143000" y="1632832"/>
            <a:ext cx="6858000" cy="118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Font typeface="Montserrat"/>
              <a:buNone/>
              <a:defRPr sz="38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ubTitle" idx="1"/>
          </p:nvPr>
        </p:nvSpPr>
        <p:spPr>
          <a:xfrm>
            <a:off x="1143000" y="2983814"/>
            <a:ext cx="6858000" cy="359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grpSp>
        <p:nvGrpSpPr>
          <p:cNvPr id="60" name="Google Shape;60;p14"/>
          <p:cNvGrpSpPr/>
          <p:nvPr/>
        </p:nvGrpSpPr>
        <p:grpSpPr>
          <a:xfrm>
            <a:off x="-732703" y="4668180"/>
            <a:ext cx="10354614" cy="521533"/>
            <a:chOff x="-976937" y="6224240"/>
            <a:chExt cx="13806152" cy="695377"/>
          </a:xfrm>
        </p:grpSpPr>
        <p:sp>
          <p:nvSpPr>
            <p:cNvPr id="61" name="Google Shape;61;p14"/>
            <p:cNvSpPr/>
            <p:nvPr/>
          </p:nvSpPr>
          <p:spPr>
            <a:xfrm>
              <a:off x="-23900" y="6246143"/>
              <a:ext cx="12270660" cy="673474"/>
            </a:xfrm>
            <a:custGeom>
              <a:avLst/>
              <a:gdLst/>
              <a:ahLst/>
              <a:cxnLst/>
              <a:rect l="l" t="t" r="r" b="b"/>
              <a:pathLst>
                <a:path w="5196983" h="292878" extrusionOk="0">
                  <a:moveTo>
                    <a:pt x="0" y="0"/>
                  </a:moveTo>
                  <a:lnTo>
                    <a:pt x="5196983" y="0"/>
                  </a:lnTo>
                  <a:lnTo>
                    <a:pt x="5196983" y="292878"/>
                  </a:lnTo>
                  <a:lnTo>
                    <a:pt x="0" y="292878"/>
                  </a:lnTo>
                  <a:close/>
                </a:path>
              </a:pathLst>
            </a:custGeom>
            <a:solidFill>
              <a:srgbClr val="021E4B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p14"/>
            <p:cNvSpPr txBox="1"/>
            <p:nvPr/>
          </p:nvSpPr>
          <p:spPr>
            <a:xfrm>
              <a:off x="-976937" y="6224240"/>
              <a:ext cx="13806152" cy="6953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8100" tIns="38100" rIns="38100" bIns="38100" anchor="ctr" anchorCtr="0">
              <a:noAutofit/>
            </a:bodyPr>
            <a:lstStyle/>
            <a:p>
              <a:pPr marL="0" marR="0" lvl="0" indent="0" algn="ctr" rtl="0">
                <a:lnSpc>
                  <a:spcPct val="145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3" name="Google Shape;63;p14"/>
          <p:cNvSpPr/>
          <p:nvPr/>
        </p:nvSpPr>
        <p:spPr>
          <a:xfrm>
            <a:off x="6990327" y="4745299"/>
            <a:ext cx="926041" cy="339713"/>
          </a:xfrm>
          <a:custGeom>
            <a:avLst/>
            <a:gdLst/>
            <a:ahLst/>
            <a:cxnLst/>
            <a:rect l="l" t="t" r="r" b="b"/>
            <a:pathLst>
              <a:path w="1526466" h="589476" extrusionOk="0">
                <a:moveTo>
                  <a:pt x="0" y="0"/>
                </a:moveTo>
                <a:lnTo>
                  <a:pt x="1526466" y="0"/>
                </a:lnTo>
                <a:lnTo>
                  <a:pt x="1526466" y="589476"/>
                </a:lnTo>
                <a:lnTo>
                  <a:pt x="0" y="5894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4"/>
          <p:cNvSpPr/>
          <p:nvPr/>
        </p:nvSpPr>
        <p:spPr>
          <a:xfrm>
            <a:off x="8094073" y="4745474"/>
            <a:ext cx="885720" cy="339713"/>
          </a:xfrm>
          <a:custGeom>
            <a:avLst/>
            <a:gdLst/>
            <a:ahLst/>
            <a:cxnLst/>
            <a:rect l="l" t="t" r="r" b="b"/>
            <a:pathLst>
              <a:path w="1460002" h="589476" extrusionOk="0">
                <a:moveTo>
                  <a:pt x="0" y="0"/>
                </a:moveTo>
                <a:lnTo>
                  <a:pt x="1460002" y="0"/>
                </a:lnTo>
                <a:lnTo>
                  <a:pt x="1460002" y="589476"/>
                </a:lnTo>
                <a:lnTo>
                  <a:pt x="0" y="5894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4"/>
          <p:cNvSpPr/>
          <p:nvPr/>
        </p:nvSpPr>
        <p:spPr>
          <a:xfrm>
            <a:off x="6079105" y="4752551"/>
            <a:ext cx="757690" cy="352791"/>
          </a:xfrm>
          <a:custGeom>
            <a:avLst/>
            <a:gdLst/>
            <a:ahLst/>
            <a:cxnLst/>
            <a:rect l="l" t="t" r="r" b="b"/>
            <a:pathLst>
              <a:path w="1248960" h="612169" extrusionOk="0">
                <a:moveTo>
                  <a:pt x="0" y="0"/>
                </a:moveTo>
                <a:lnTo>
                  <a:pt x="1248960" y="0"/>
                </a:lnTo>
                <a:lnTo>
                  <a:pt x="1248960" y="612169"/>
                </a:lnTo>
                <a:lnTo>
                  <a:pt x="0" y="6121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2593" r="-2116" b="-1273"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4"/>
          <p:cNvSpPr txBox="1">
            <a:spLocks noGrp="1"/>
          </p:cNvSpPr>
          <p:nvPr>
            <p:ph type="dt" idx="10"/>
          </p:nvPr>
        </p:nvSpPr>
        <p:spPr>
          <a:xfrm>
            <a:off x="198932" y="479202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sldNum" idx="12"/>
          </p:nvPr>
        </p:nvSpPr>
        <p:spPr>
          <a:xfrm>
            <a:off x="8450284" y="217000"/>
            <a:ext cx="459043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17404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jpe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bin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6.png"/><Relationship Id="rId4" Type="http://schemas.openxmlformats.org/officeDocument/2006/relationships/image" Target="../media/image10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bin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24.bin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0"/>
          <p:cNvSpPr txBox="1">
            <a:spLocks noGrp="1"/>
          </p:cNvSpPr>
          <p:nvPr>
            <p:ph type="ctrTitle"/>
          </p:nvPr>
        </p:nvSpPr>
        <p:spPr>
          <a:xfrm>
            <a:off x="1143000" y="1632832"/>
            <a:ext cx="6858000" cy="118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Montserrat"/>
              <a:buNone/>
            </a:pPr>
            <a:r>
              <a:rPr lang="es-MX" b="1" i="0" dirty="0">
                <a:solidFill>
                  <a:schemeClr val="bg1"/>
                </a:solidFill>
                <a:effectLst/>
                <a:latin typeface="Lato Extended"/>
              </a:rPr>
              <a:t>Análisis de Patrones de Sueño</a:t>
            </a:r>
            <a:r>
              <a:rPr lang="es" b="1" i="0" dirty="0">
                <a:solidFill>
                  <a:schemeClr val="bg1"/>
                </a:solidFill>
                <a:effectLst/>
                <a:latin typeface="Lato Extended"/>
              </a:rPr>
              <a:t>.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39" name="Google Shape;139;p20"/>
          <p:cNvSpPr txBox="1">
            <a:spLocks noGrp="1"/>
          </p:cNvSpPr>
          <p:nvPr>
            <p:ph type="subTitle" idx="1"/>
          </p:nvPr>
        </p:nvSpPr>
        <p:spPr>
          <a:xfrm>
            <a:off x="1143000" y="2983814"/>
            <a:ext cx="6858000" cy="359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 fontScale="85000" lnSpcReduction="2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</a:pPr>
            <a:r>
              <a:rPr lang="es-MX" dirty="0"/>
              <a:t>Integrantes: Cobos Valle Joshua Alexander, Forero Villota Katherine Sheila, Intriago Celi Romina Anahí, Olalla Sacancela Miguel Sebastián, Ponce Pincay Jhon Lenin</a:t>
            </a:r>
            <a:endParaRPr lang="es-EC" dirty="0"/>
          </a:p>
        </p:txBody>
      </p:sp>
      <p:sp>
        <p:nvSpPr>
          <p:cNvPr id="140" name="Google Shape;140;p20"/>
          <p:cNvSpPr txBox="1">
            <a:spLocks noGrp="1"/>
          </p:cNvSpPr>
          <p:nvPr>
            <p:ph type="dt" idx="10"/>
          </p:nvPr>
        </p:nvSpPr>
        <p:spPr>
          <a:xfrm>
            <a:off x="198932" y="479202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 sz="1400" dirty="0"/>
              <a:t>Fecha: 19/09/2025</a:t>
            </a:r>
            <a:endParaRPr sz="1400" dirty="0"/>
          </a:p>
        </p:txBody>
      </p:sp>
      <p:sp>
        <p:nvSpPr>
          <p:cNvPr id="141" name="Google Shape;141;p20"/>
          <p:cNvSpPr txBox="1">
            <a:spLocks noGrp="1"/>
          </p:cNvSpPr>
          <p:nvPr>
            <p:ph type="sldNum" idx="12"/>
          </p:nvPr>
        </p:nvSpPr>
        <p:spPr>
          <a:xfrm>
            <a:off x="8450284" y="217000"/>
            <a:ext cx="459043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s"/>
              <a:t>1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437582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85750" y="326293"/>
            <a:ext cx="3114635" cy="397545"/>
          </a:xfrm>
          <a:prstGeom prst="rect">
            <a:avLst/>
          </a:prstGeom>
          <a:noFill/>
          <a:ln/>
        </p:spPr>
        <p:txBody>
          <a:bodyPr wrap="none" lIns="0" tIns="0" rIns="0" bIns="8509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2C3E50"/>
                </a:solidFill>
                <a:latin typeface="Lato Extended"/>
                <a:ea typeface="Roboto" pitchFamily="34" charset="-122"/>
                <a:cs typeface="Roboto" pitchFamily="34" charset="-120"/>
              </a:rPr>
              <a:t>Descripción del Problema</a:t>
            </a:r>
            <a:endParaRPr lang="en-US" sz="2025" dirty="0">
              <a:latin typeface="Lato Extended"/>
            </a:endParaRPr>
          </a:p>
        </p:txBody>
      </p:sp>
      <p:sp>
        <p:nvSpPr>
          <p:cNvPr id="4" name="Text 1"/>
          <p:cNvSpPr/>
          <p:nvPr/>
        </p:nvSpPr>
        <p:spPr>
          <a:xfrm>
            <a:off x="285750" y="1333992"/>
            <a:ext cx="4179094" cy="1609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endParaRPr lang="en-US" sz="1046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0" y="1288775"/>
            <a:ext cx="142875" cy="14287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9995" y="1277566"/>
            <a:ext cx="3834383" cy="18466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Identificar patrones de sueño en </a:t>
            </a:r>
            <a:r>
              <a:rPr lang="en-US" sz="1200" dirty="0" err="1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diferentes</a:t>
            </a:r>
            <a:r>
              <a:rPr lang="en-US" sz="1200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00" dirty="0" err="1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usuarios</a:t>
            </a:r>
            <a:r>
              <a:rPr lang="en-US" sz="1200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</a:t>
            </a:r>
            <a:endParaRPr lang="en-US" sz="12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098" y="1672456"/>
            <a:ext cx="142875" cy="14287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19954" y="1559564"/>
            <a:ext cx="3964781" cy="3693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Analizar la relación entre factores externos y calidad del </a:t>
            </a:r>
            <a:r>
              <a:rPr lang="en-US" sz="1200" dirty="0" err="1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sueño</a:t>
            </a:r>
            <a:r>
              <a:rPr lang="en-US" sz="1200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</a:t>
            </a:r>
            <a:endParaRPr lang="en-US" sz="12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0" y="2052600"/>
            <a:ext cx="142875" cy="142875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519954" y="2033687"/>
            <a:ext cx="3561873" cy="18466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Determinar la distribución de las fases del </a:t>
            </a:r>
            <a:r>
              <a:rPr lang="en-US" sz="1200" dirty="0" err="1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sueño</a:t>
            </a:r>
            <a:r>
              <a:rPr lang="en-US" sz="1200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</a:t>
            </a:r>
            <a:endParaRPr lang="en-US" sz="12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098" y="2419080"/>
            <a:ext cx="142875" cy="142875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519953" y="2305850"/>
            <a:ext cx="3964781" cy="3693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Evaluar el impacto de interrupciones en la </a:t>
            </a:r>
            <a:r>
              <a:rPr lang="en-US" sz="1200" dirty="0" err="1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calidad</a:t>
            </a:r>
            <a:r>
              <a:rPr lang="en-US" sz="1200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00" dirty="0" err="1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percibida</a:t>
            </a:r>
            <a:r>
              <a:rPr lang="en-US" sz="1200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</a:t>
            </a:r>
            <a:endParaRPr lang="en-US" sz="120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098" y="2805151"/>
            <a:ext cx="142875" cy="142875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519954" y="2725657"/>
            <a:ext cx="3964781" cy="3693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Correlacionar factores personales (IMC, </a:t>
            </a:r>
            <a:r>
              <a:rPr lang="en-US" sz="1200" dirty="0" err="1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ocupación</a:t>
            </a:r>
            <a:r>
              <a:rPr lang="en-US" sz="1200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) con la calidad del </a:t>
            </a:r>
            <a:r>
              <a:rPr lang="en-US" sz="1200" dirty="0" err="1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sueño</a:t>
            </a:r>
            <a:r>
              <a:rPr lang="en-US" sz="1200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</a:t>
            </a:r>
            <a:endParaRPr lang="en-US" sz="1200" dirty="0"/>
          </a:p>
        </p:txBody>
      </p:sp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8835" y="1095962"/>
            <a:ext cx="3571875" cy="2381241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796237B4-0A7C-419B-A131-BECE2B554F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646838"/>
            <a:ext cx="9144000" cy="49754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85750" y="326293"/>
            <a:ext cx="3678636" cy="397545"/>
          </a:xfrm>
          <a:prstGeom prst="rect">
            <a:avLst/>
          </a:prstGeom>
          <a:noFill/>
          <a:ln/>
        </p:spPr>
        <p:txBody>
          <a:bodyPr wrap="none" lIns="0" tIns="0" rIns="0" bIns="8509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2C3E50"/>
                </a:solidFill>
                <a:latin typeface="Lato Extended"/>
                <a:ea typeface="Roboto" pitchFamily="34" charset="-122"/>
                <a:cs typeface="Roboto" pitchFamily="34" charset="-120"/>
              </a:rPr>
              <a:t>Estructura de la Base de Datos</a:t>
            </a:r>
            <a:endParaRPr lang="en-US" sz="2025" dirty="0">
              <a:latin typeface="Lato Extended"/>
            </a:endParaRPr>
          </a:p>
        </p:txBody>
      </p:sp>
      <p:sp>
        <p:nvSpPr>
          <p:cNvPr id="4" name="Text 1"/>
          <p:cNvSpPr/>
          <p:nvPr/>
        </p:nvSpPr>
        <p:spPr>
          <a:xfrm>
            <a:off x="285750" y="1029121"/>
            <a:ext cx="3343275" cy="4349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La base de datos "</a:t>
            </a:r>
            <a:r>
              <a:rPr lang="en-US" sz="942" dirty="0" err="1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analisis_sueno</a:t>
            </a:r>
            <a:r>
              <a:rPr lang="en-US" sz="942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" está diseñada para almacenar y analizar información sobre patrones de sueño de usuarios. </a:t>
            </a:r>
            <a:endParaRPr lang="en-US" sz="942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0" y="1691335"/>
            <a:ext cx="128588" cy="12858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85775" y="1659188"/>
            <a:ext cx="539046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usuarios</a:t>
            </a:r>
            <a:endParaRPr lang="en-US" sz="942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0" y="2041860"/>
            <a:ext cx="128588" cy="12858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85775" y="2007394"/>
            <a:ext cx="741052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dispositivos</a:t>
            </a:r>
            <a:endParaRPr lang="en-US" sz="942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0" y="2410588"/>
            <a:ext cx="128588" cy="12858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85775" y="2366165"/>
            <a:ext cx="973029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sesiones_sueno</a:t>
            </a:r>
            <a:endParaRPr lang="en-US" sz="942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0" y="2778857"/>
            <a:ext cx="128588" cy="12858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485775" y="2746710"/>
            <a:ext cx="76022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fases_sueno</a:t>
            </a:r>
            <a:endParaRPr lang="en-US" sz="942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354" y="3142171"/>
            <a:ext cx="128588" cy="128588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481089" y="3098601"/>
            <a:ext cx="92288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interrupciones</a:t>
            </a:r>
            <a:endParaRPr lang="en-US" sz="942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354" y="3528529"/>
            <a:ext cx="128588" cy="128588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481089" y="3496382"/>
            <a:ext cx="1116936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factores_externos</a:t>
            </a:r>
            <a:endParaRPr lang="en-US" sz="942" dirty="0"/>
          </a:p>
        </p:txBody>
      </p:sp>
      <p:pic>
        <p:nvPicPr>
          <p:cNvPr id="25" name="Imagen 24">
            <a:extLst>
              <a:ext uri="{FF2B5EF4-FFF2-40B4-BE49-F238E27FC236}">
                <a16:creationId xmlns:a16="http://schemas.microsoft.com/office/drawing/2014/main" id="{1AC714F8-9FE0-4B45-A7B7-AA0FAFFE1C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711303"/>
            <a:ext cx="9144000" cy="497541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803FED78-8A2E-4A4D-87F6-0B880D4E89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8880" y="97478"/>
            <a:ext cx="3143250" cy="4562782"/>
          </a:xfrm>
          <a:prstGeom prst="rect">
            <a:avLst/>
          </a:prstGeom>
        </p:spPr>
      </p:pic>
      <p:pic>
        <p:nvPicPr>
          <p:cNvPr id="26" name="Image 1" descr="preencoded.png">
            <a:extLst>
              <a:ext uri="{FF2B5EF4-FFF2-40B4-BE49-F238E27FC236}">
                <a16:creationId xmlns:a16="http://schemas.microsoft.com/office/drawing/2014/main" id="{846156D2-1475-486A-840D-BCB4F236A0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9278" y="1724003"/>
            <a:ext cx="128588" cy="128588"/>
          </a:xfrm>
          <a:prstGeom prst="rect">
            <a:avLst/>
          </a:prstGeom>
        </p:spPr>
      </p:pic>
      <p:sp>
        <p:nvSpPr>
          <p:cNvPr id="28" name="Text 2">
            <a:extLst>
              <a:ext uri="{FF2B5EF4-FFF2-40B4-BE49-F238E27FC236}">
                <a16:creationId xmlns:a16="http://schemas.microsoft.com/office/drawing/2014/main" id="{BC345938-365F-4399-A7AA-7B5FAF01B4FD}"/>
              </a:ext>
            </a:extLst>
          </p:cNvPr>
          <p:cNvSpPr/>
          <p:nvPr/>
        </p:nvSpPr>
        <p:spPr>
          <a:xfrm>
            <a:off x="3325509" y="1714644"/>
            <a:ext cx="1065997" cy="14497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 err="1">
                <a:solidFill>
                  <a:srgbClr val="2C3E50"/>
                </a:solidFill>
                <a:latin typeface="Noto Sans" pitchFamily="34" charset="0"/>
                <a:ea typeface="Noto Sans" pitchFamily="34" charset="-122"/>
              </a:rPr>
              <a:t>tipos_dispositivos</a:t>
            </a:r>
            <a:endParaRPr lang="en-US" sz="942" dirty="0"/>
          </a:p>
        </p:txBody>
      </p:sp>
      <p:sp>
        <p:nvSpPr>
          <p:cNvPr id="29" name="Text 2">
            <a:extLst>
              <a:ext uri="{FF2B5EF4-FFF2-40B4-BE49-F238E27FC236}">
                <a16:creationId xmlns:a16="http://schemas.microsoft.com/office/drawing/2014/main" id="{127B3E88-8849-46D7-9740-F3A3FA8B5F9B}"/>
              </a:ext>
            </a:extLst>
          </p:cNvPr>
          <p:cNvSpPr/>
          <p:nvPr/>
        </p:nvSpPr>
        <p:spPr>
          <a:xfrm>
            <a:off x="3325509" y="2033032"/>
            <a:ext cx="537291" cy="144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 err="1">
                <a:solidFill>
                  <a:srgbClr val="2C3E50"/>
                </a:solidFill>
                <a:latin typeface="Noto Sans" pitchFamily="34" charset="0"/>
                <a:ea typeface="Noto Sans" pitchFamily="34" charset="-122"/>
              </a:rPr>
              <a:t>generos</a:t>
            </a:r>
            <a:endParaRPr lang="en-US" sz="942" dirty="0"/>
          </a:p>
        </p:txBody>
      </p:sp>
      <p:sp>
        <p:nvSpPr>
          <p:cNvPr id="30" name="Text 2">
            <a:extLst>
              <a:ext uri="{FF2B5EF4-FFF2-40B4-BE49-F238E27FC236}">
                <a16:creationId xmlns:a16="http://schemas.microsoft.com/office/drawing/2014/main" id="{A6FAD9EB-C150-463B-B61A-C27001AA2C92}"/>
              </a:ext>
            </a:extLst>
          </p:cNvPr>
          <p:cNvSpPr/>
          <p:nvPr/>
        </p:nvSpPr>
        <p:spPr>
          <a:xfrm>
            <a:off x="3325509" y="2399617"/>
            <a:ext cx="1054776" cy="14497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 err="1">
                <a:solidFill>
                  <a:srgbClr val="2C3E50"/>
                </a:solidFill>
                <a:latin typeface="Noto Sans" pitchFamily="34" charset="0"/>
                <a:ea typeface="Noto Sans" pitchFamily="34" charset="-122"/>
              </a:rPr>
              <a:t>calidad_percibida</a:t>
            </a:r>
            <a:endParaRPr lang="en-US" sz="942" dirty="0"/>
          </a:p>
        </p:txBody>
      </p:sp>
      <p:sp>
        <p:nvSpPr>
          <p:cNvPr id="32" name="Text 2">
            <a:extLst>
              <a:ext uri="{FF2B5EF4-FFF2-40B4-BE49-F238E27FC236}">
                <a16:creationId xmlns:a16="http://schemas.microsoft.com/office/drawing/2014/main" id="{EBC10BCC-0899-40AB-AE53-0BE3DE63DAD5}"/>
              </a:ext>
            </a:extLst>
          </p:cNvPr>
          <p:cNvSpPr/>
          <p:nvPr/>
        </p:nvSpPr>
        <p:spPr>
          <a:xfrm>
            <a:off x="3323906" y="2728949"/>
            <a:ext cx="1062791" cy="14497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 err="1">
                <a:solidFill>
                  <a:srgbClr val="2C3E50"/>
                </a:solidFill>
                <a:latin typeface="Noto Sans" pitchFamily="34" charset="0"/>
                <a:ea typeface="Noto Sans" pitchFamily="34" charset="-122"/>
              </a:rPr>
              <a:t>nivel_iluminacion</a:t>
            </a:r>
            <a:endParaRPr lang="en-US" sz="942" dirty="0"/>
          </a:p>
        </p:txBody>
      </p:sp>
      <p:sp>
        <p:nvSpPr>
          <p:cNvPr id="33" name="Text 2">
            <a:extLst>
              <a:ext uri="{FF2B5EF4-FFF2-40B4-BE49-F238E27FC236}">
                <a16:creationId xmlns:a16="http://schemas.microsoft.com/office/drawing/2014/main" id="{7908ACEE-0542-4870-B483-560C54D435FD}"/>
              </a:ext>
            </a:extLst>
          </p:cNvPr>
          <p:cNvSpPr/>
          <p:nvPr/>
        </p:nvSpPr>
        <p:spPr>
          <a:xfrm>
            <a:off x="3318214" y="3102340"/>
            <a:ext cx="668453" cy="14497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 err="1">
                <a:solidFill>
                  <a:srgbClr val="2C3E50"/>
                </a:solidFill>
                <a:latin typeface="Noto Sans" pitchFamily="34" charset="0"/>
                <a:ea typeface="Noto Sans" pitchFamily="34" charset="-122"/>
              </a:rPr>
              <a:t>nivel_ruido</a:t>
            </a:r>
            <a:endParaRPr lang="en-US" sz="942" dirty="0"/>
          </a:p>
        </p:txBody>
      </p:sp>
      <p:pic>
        <p:nvPicPr>
          <p:cNvPr id="35" name="Image 1" descr="preencoded.png">
            <a:extLst>
              <a:ext uri="{FF2B5EF4-FFF2-40B4-BE49-F238E27FC236}">
                <a16:creationId xmlns:a16="http://schemas.microsoft.com/office/drawing/2014/main" id="{4188F4F6-3568-4C34-A239-7D8A8A0B69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9278" y="2047612"/>
            <a:ext cx="128588" cy="128588"/>
          </a:xfrm>
          <a:prstGeom prst="rect">
            <a:avLst/>
          </a:prstGeom>
        </p:spPr>
      </p:pic>
      <p:pic>
        <p:nvPicPr>
          <p:cNvPr id="36" name="Image 1" descr="preencoded.png">
            <a:extLst>
              <a:ext uri="{FF2B5EF4-FFF2-40B4-BE49-F238E27FC236}">
                <a16:creationId xmlns:a16="http://schemas.microsoft.com/office/drawing/2014/main" id="{2A4C1F3C-8C2B-4149-AC27-0FB5E71AD5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9278" y="2399617"/>
            <a:ext cx="128588" cy="128588"/>
          </a:xfrm>
          <a:prstGeom prst="rect">
            <a:avLst/>
          </a:prstGeom>
        </p:spPr>
      </p:pic>
      <p:pic>
        <p:nvPicPr>
          <p:cNvPr id="37" name="Image 1" descr="preencoded.png">
            <a:extLst>
              <a:ext uri="{FF2B5EF4-FFF2-40B4-BE49-F238E27FC236}">
                <a16:creationId xmlns:a16="http://schemas.microsoft.com/office/drawing/2014/main" id="{53362915-A320-444F-8970-D8C4AA3467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8104" y="2727366"/>
            <a:ext cx="128588" cy="128588"/>
          </a:xfrm>
          <a:prstGeom prst="rect">
            <a:avLst/>
          </a:prstGeom>
        </p:spPr>
      </p:pic>
      <p:pic>
        <p:nvPicPr>
          <p:cNvPr id="38" name="Image 1" descr="preencoded.png">
            <a:extLst>
              <a:ext uri="{FF2B5EF4-FFF2-40B4-BE49-F238E27FC236}">
                <a16:creationId xmlns:a16="http://schemas.microsoft.com/office/drawing/2014/main" id="{388B4477-7C59-4B55-9122-827D67FEC4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8104" y="3110534"/>
            <a:ext cx="128588" cy="128588"/>
          </a:xfrm>
          <a:prstGeom prst="rect">
            <a:avLst/>
          </a:prstGeom>
        </p:spPr>
      </p:pic>
      <p:sp>
        <p:nvSpPr>
          <p:cNvPr id="2" name="Text 3">
            <a:extLst>
              <a:ext uri="{FF2B5EF4-FFF2-40B4-BE49-F238E27FC236}">
                <a16:creationId xmlns:a16="http://schemas.microsoft.com/office/drawing/2014/main" id="{192AE713-1628-D5B8-3513-2CC656764AC6}"/>
              </a:ext>
            </a:extLst>
          </p:cNvPr>
          <p:cNvSpPr/>
          <p:nvPr/>
        </p:nvSpPr>
        <p:spPr>
          <a:xfrm>
            <a:off x="481089" y="1819923"/>
            <a:ext cx="31432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Información personal y demográfica</a:t>
            </a:r>
            <a:endParaRPr lang="en-US" sz="837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70946F0-2130-FD90-F6C9-B9AD7261A13E}"/>
              </a:ext>
            </a:extLst>
          </p:cNvPr>
          <p:cNvSpPr/>
          <p:nvPr/>
        </p:nvSpPr>
        <p:spPr>
          <a:xfrm>
            <a:off x="485775" y="2191050"/>
            <a:ext cx="31432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Dispositivos de monitoreo utilizados</a:t>
            </a:r>
            <a:endParaRPr lang="en-US" sz="837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2FCCD6BB-0857-5EDE-61D8-2AFC4CF4E4FC}"/>
              </a:ext>
            </a:extLst>
          </p:cNvPr>
          <p:cNvSpPr/>
          <p:nvPr/>
        </p:nvSpPr>
        <p:spPr>
          <a:xfrm>
            <a:off x="485775" y="2535542"/>
            <a:ext cx="31432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Registro de sesiones de sueño</a:t>
            </a:r>
            <a:endParaRPr lang="en-US" sz="837" dirty="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CF6F8135-DC35-5688-4956-8A76BD924063}"/>
              </a:ext>
            </a:extLst>
          </p:cNvPr>
          <p:cNvSpPr/>
          <p:nvPr/>
        </p:nvSpPr>
        <p:spPr>
          <a:xfrm>
            <a:off x="485775" y="2910766"/>
            <a:ext cx="31432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Detalle de fases (REM, Profundo, Ligero)</a:t>
            </a:r>
            <a:endParaRPr lang="en-US" sz="837" dirty="0"/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C37EEA5F-0C3B-97F0-F403-4DAB81BB0B65}"/>
              </a:ext>
            </a:extLst>
          </p:cNvPr>
          <p:cNvSpPr/>
          <p:nvPr/>
        </p:nvSpPr>
        <p:spPr>
          <a:xfrm>
            <a:off x="485775" y="3267762"/>
            <a:ext cx="31432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Registro de interrupciones durante el sueño</a:t>
            </a:r>
            <a:endParaRPr lang="en-US" sz="837" dirty="0"/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66921DA6-4ECD-0802-AE44-FEFBC77D56AB}"/>
              </a:ext>
            </a:extLst>
          </p:cNvPr>
          <p:cNvSpPr/>
          <p:nvPr/>
        </p:nvSpPr>
        <p:spPr>
          <a:xfrm>
            <a:off x="485775" y="3670119"/>
            <a:ext cx="2258330" cy="2576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Condiciones ambientales (temperatura, ruido, iluminación)</a:t>
            </a:r>
            <a:endParaRPr lang="en-US" sz="837" dirty="0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509F8CFA-0EF1-5A38-F056-1A4356A83A8F}"/>
              </a:ext>
            </a:extLst>
          </p:cNvPr>
          <p:cNvSpPr/>
          <p:nvPr/>
        </p:nvSpPr>
        <p:spPr>
          <a:xfrm>
            <a:off x="2880360" y="1554480"/>
            <a:ext cx="1691640" cy="1884732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73B56A78-CBDD-D522-8AB4-3A38A0AC1DC9}"/>
              </a:ext>
            </a:extLst>
          </p:cNvPr>
          <p:cNvCxnSpPr>
            <a:cxnSpLocks/>
            <a:stCxn id="22" idx="2"/>
          </p:cNvCxnSpPr>
          <p:nvPr/>
        </p:nvCxnSpPr>
        <p:spPr>
          <a:xfrm>
            <a:off x="3726180" y="3439212"/>
            <a:ext cx="0" cy="320698"/>
          </a:xfrm>
          <a:prstGeom prst="straightConnector1">
            <a:avLst/>
          </a:prstGeom>
          <a:ln w="1270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 7">
            <a:extLst>
              <a:ext uri="{FF2B5EF4-FFF2-40B4-BE49-F238E27FC236}">
                <a16:creationId xmlns:a16="http://schemas.microsoft.com/office/drawing/2014/main" id="{729D0816-DC86-1191-227B-0ACDB3E27078}"/>
              </a:ext>
            </a:extLst>
          </p:cNvPr>
          <p:cNvSpPr/>
          <p:nvPr/>
        </p:nvSpPr>
        <p:spPr>
          <a:xfrm>
            <a:off x="2997454" y="3825553"/>
            <a:ext cx="1457452" cy="2576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37" i="1" dirty="0" err="1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Tablas</a:t>
            </a:r>
            <a:r>
              <a:rPr lang="en-US" sz="837" i="1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de </a:t>
            </a:r>
            <a:r>
              <a:rPr lang="en-US" sz="837" i="1" dirty="0" err="1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categorización</a:t>
            </a:r>
            <a:r>
              <a:rPr lang="en-US" sz="837" i="1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para </a:t>
            </a:r>
            <a:r>
              <a:rPr lang="en-US" sz="837" i="1" dirty="0" err="1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máxima</a:t>
            </a:r>
            <a:r>
              <a:rPr lang="en-US" sz="837" i="1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837" i="1" dirty="0" err="1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normalización</a:t>
            </a:r>
            <a:endParaRPr lang="en-US" sz="837" i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85750" y="232011"/>
            <a:ext cx="8572500" cy="478631"/>
          </a:xfrm>
          <a:prstGeom prst="rect">
            <a:avLst/>
          </a:prstGeom>
          <a:noFill/>
          <a:ln/>
        </p:spPr>
        <p:txBody>
          <a:bodyPr wrap="none" lIns="0" tIns="0" rIns="0" bIns="8509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Consultas SQL Principales</a:t>
            </a:r>
            <a:endParaRPr lang="en-US" sz="2025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101" y="918461"/>
            <a:ext cx="137517" cy="15716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58719" y="895802"/>
            <a:ext cx="4230325" cy="19050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s-MX" sz="1238" b="1" dirty="0">
                <a:solidFill>
                  <a:srgbClr val="00B0F0"/>
                </a:solidFill>
                <a:latin typeface="Noto Sans"/>
              </a:rPr>
              <a:t>¿Cuál es la duración promedio del sueño por usuario?</a:t>
            </a:r>
            <a:endParaRPr lang="en-US" sz="1238" b="1" dirty="0">
              <a:solidFill>
                <a:srgbClr val="00B0F0"/>
              </a:solidFill>
              <a:latin typeface="Noto Sans"/>
            </a:endParaRPr>
          </a:p>
        </p:txBody>
      </p:sp>
      <p:sp>
        <p:nvSpPr>
          <p:cNvPr id="32" name="Text 28"/>
          <p:cNvSpPr/>
          <p:nvPr/>
        </p:nvSpPr>
        <p:spPr>
          <a:xfrm>
            <a:off x="2986088" y="2068116"/>
            <a:ext cx="6429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5" dirty="0">
                <a:solidFill>
                  <a:srgbClr val="ABB2B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;</a:t>
            </a:r>
            <a:endParaRPr lang="en-US" sz="785" dirty="0"/>
          </a:p>
        </p:txBody>
      </p:sp>
      <p:pic>
        <p:nvPicPr>
          <p:cNvPr id="3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127" y="2603009"/>
            <a:ext cx="137517" cy="157163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497744" y="2581679"/>
            <a:ext cx="6040115" cy="19050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s-MX" sz="1238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¿Qué porcentaje del sueño corresponde a cada fase (REM, profundo, ligero)?</a:t>
            </a:r>
            <a:endParaRPr lang="en-US" sz="1238" dirty="0"/>
          </a:p>
        </p:txBody>
      </p:sp>
      <p:sp>
        <p:nvSpPr>
          <p:cNvPr id="104" name="Text 98"/>
          <p:cNvSpPr/>
          <p:nvPr/>
        </p:nvSpPr>
        <p:spPr>
          <a:xfrm>
            <a:off x="735806" y="4994151"/>
            <a:ext cx="135016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5" dirty="0">
                <a:solidFill>
                  <a:srgbClr val="ABB2B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nivel_iluminacion i </a:t>
            </a:r>
            <a:endParaRPr lang="en-US" sz="785" dirty="0"/>
          </a:p>
        </p:txBody>
      </p:sp>
      <p:sp>
        <p:nvSpPr>
          <p:cNvPr id="106" name="Text 100"/>
          <p:cNvSpPr/>
          <p:nvPr/>
        </p:nvSpPr>
        <p:spPr>
          <a:xfrm>
            <a:off x="2214563" y="4994151"/>
            <a:ext cx="154305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5" dirty="0">
                <a:solidFill>
                  <a:srgbClr val="ABB2B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f.id_nivel_iluminacion </a:t>
            </a:r>
            <a:endParaRPr lang="en-US" sz="785" dirty="0"/>
          </a:p>
        </p:txBody>
      </p:sp>
      <p:sp>
        <p:nvSpPr>
          <p:cNvPr id="107" name="Text 101"/>
          <p:cNvSpPr/>
          <p:nvPr/>
        </p:nvSpPr>
        <p:spPr>
          <a:xfrm>
            <a:off x="3757613" y="4994151"/>
            <a:ext cx="6429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5" dirty="0">
                <a:solidFill>
                  <a:srgbClr val="ABB2B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=</a:t>
            </a:r>
            <a:endParaRPr lang="en-US" sz="785" dirty="0"/>
          </a:p>
        </p:txBody>
      </p:sp>
      <p:pic>
        <p:nvPicPr>
          <p:cNvPr id="114" name="Imagen 113">
            <a:extLst>
              <a:ext uri="{FF2B5EF4-FFF2-40B4-BE49-F238E27FC236}">
                <a16:creationId xmlns:a16="http://schemas.microsoft.com/office/drawing/2014/main" id="{4964C7D7-96EB-454C-9F3A-D56DBC3168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635913"/>
            <a:ext cx="9144000" cy="49754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8EC284E6-61C5-AC4D-AE1F-8C6853C0D1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5023" y="1305873"/>
            <a:ext cx="8836818" cy="932154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0DF0CF07-53C8-DC03-298A-FF8AE2DBC1F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0747" y="2950443"/>
            <a:ext cx="8834074" cy="123660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85750" y="225480"/>
            <a:ext cx="8572500" cy="478631"/>
          </a:xfrm>
          <a:prstGeom prst="rect">
            <a:avLst/>
          </a:prstGeom>
          <a:noFill/>
          <a:ln/>
        </p:spPr>
        <p:txBody>
          <a:bodyPr wrap="none" lIns="0" tIns="0" rIns="0" bIns="8509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Consultas SQL Principales</a:t>
            </a:r>
            <a:endParaRPr lang="en-US" sz="2025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101" y="918461"/>
            <a:ext cx="137517" cy="15716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58719" y="895802"/>
            <a:ext cx="4546116" cy="19050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s-MX" sz="1238" b="1" dirty="0">
                <a:solidFill>
                  <a:srgbClr val="00B0F0"/>
                </a:solidFill>
                <a:latin typeface="Noto Sans"/>
              </a:rPr>
              <a:t>¿Qué factores externos afectan más la calidad del sueño?</a:t>
            </a:r>
            <a:endParaRPr lang="en-US" sz="1238" b="1" dirty="0">
              <a:solidFill>
                <a:srgbClr val="00B0F0"/>
              </a:solidFill>
              <a:latin typeface="Noto Sans"/>
            </a:endParaRPr>
          </a:p>
        </p:txBody>
      </p:sp>
      <p:sp>
        <p:nvSpPr>
          <p:cNvPr id="32" name="Text 28"/>
          <p:cNvSpPr/>
          <p:nvPr/>
        </p:nvSpPr>
        <p:spPr>
          <a:xfrm>
            <a:off x="2986088" y="2068116"/>
            <a:ext cx="6429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5" dirty="0">
                <a:solidFill>
                  <a:srgbClr val="ABB2B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;</a:t>
            </a:r>
            <a:endParaRPr lang="en-US" sz="785" dirty="0"/>
          </a:p>
        </p:txBody>
      </p:sp>
      <p:sp>
        <p:nvSpPr>
          <p:cNvPr id="48" name="Text 43"/>
          <p:cNvSpPr/>
          <p:nvPr/>
        </p:nvSpPr>
        <p:spPr>
          <a:xfrm>
            <a:off x="478631" y="3113224"/>
            <a:ext cx="257175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5" dirty="0">
                <a:solidFill>
                  <a:srgbClr val="ABB2B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   </a:t>
            </a:r>
            <a:endParaRPr lang="en-US" sz="785" dirty="0"/>
          </a:p>
        </p:txBody>
      </p:sp>
      <p:sp>
        <p:nvSpPr>
          <p:cNvPr id="64" name="Text 59"/>
          <p:cNvSpPr/>
          <p:nvPr/>
        </p:nvSpPr>
        <p:spPr>
          <a:xfrm>
            <a:off x="478631" y="3391830"/>
            <a:ext cx="257175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5" dirty="0">
                <a:solidFill>
                  <a:srgbClr val="ABB2B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   </a:t>
            </a:r>
            <a:endParaRPr lang="en-US" sz="785" dirty="0"/>
          </a:p>
        </p:txBody>
      </p:sp>
      <p:sp>
        <p:nvSpPr>
          <p:cNvPr id="104" name="Text 98"/>
          <p:cNvSpPr/>
          <p:nvPr/>
        </p:nvSpPr>
        <p:spPr>
          <a:xfrm>
            <a:off x="735806" y="4994151"/>
            <a:ext cx="135016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5" dirty="0">
                <a:solidFill>
                  <a:srgbClr val="ABB2B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nivel_iluminacion i </a:t>
            </a:r>
            <a:endParaRPr lang="en-US" sz="785" dirty="0"/>
          </a:p>
        </p:txBody>
      </p:sp>
      <p:sp>
        <p:nvSpPr>
          <p:cNvPr id="106" name="Text 100"/>
          <p:cNvSpPr/>
          <p:nvPr/>
        </p:nvSpPr>
        <p:spPr>
          <a:xfrm>
            <a:off x="2214563" y="4994151"/>
            <a:ext cx="154305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5" dirty="0">
                <a:solidFill>
                  <a:srgbClr val="ABB2B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f.id_nivel_iluminacion </a:t>
            </a:r>
            <a:endParaRPr lang="en-US" sz="785" dirty="0"/>
          </a:p>
        </p:txBody>
      </p:sp>
      <p:sp>
        <p:nvSpPr>
          <p:cNvPr id="107" name="Text 101"/>
          <p:cNvSpPr/>
          <p:nvPr/>
        </p:nvSpPr>
        <p:spPr>
          <a:xfrm>
            <a:off x="3757613" y="4994151"/>
            <a:ext cx="6429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5" dirty="0">
                <a:solidFill>
                  <a:srgbClr val="ABB2B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=</a:t>
            </a:r>
            <a:endParaRPr lang="en-US" sz="785" dirty="0"/>
          </a:p>
        </p:txBody>
      </p:sp>
      <p:pic>
        <p:nvPicPr>
          <p:cNvPr id="114" name="Imagen 113">
            <a:extLst>
              <a:ext uri="{FF2B5EF4-FFF2-40B4-BE49-F238E27FC236}">
                <a16:creationId xmlns:a16="http://schemas.microsoft.com/office/drawing/2014/main" id="{4964C7D7-96EB-454C-9F3A-D56DBC3168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635913"/>
            <a:ext cx="9144000" cy="49754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6FCD4565-133A-2EB5-C304-4ED5AAA747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875" y="1225606"/>
            <a:ext cx="8858250" cy="1792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1412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293828" y="794253"/>
            <a:ext cx="4097275" cy="18466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s-MX" sz="1200" b="1" dirty="0">
                <a:solidFill>
                  <a:srgbClr val="00B0F0"/>
                </a:solidFill>
                <a:latin typeface="Noto Sans"/>
              </a:rPr>
              <a:t>¿Cuál es la duración promedio del sueño por usuario?</a:t>
            </a:r>
            <a:endParaRPr lang="en-US" sz="1200" b="1" dirty="0">
              <a:solidFill>
                <a:srgbClr val="00B0F0"/>
              </a:solidFill>
              <a:latin typeface="Noto Sans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35" y="807469"/>
            <a:ext cx="171450" cy="171450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57A41141-3B08-4069-AD56-3B6AB0B6DF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646838"/>
            <a:ext cx="9144000" cy="497541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FBC790AB-D84D-4453-870C-1CD2972E82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120" y="1110650"/>
            <a:ext cx="3807149" cy="1706419"/>
          </a:xfrm>
          <a:prstGeom prst="rect">
            <a:avLst/>
          </a:prstGeom>
        </p:spPr>
      </p:pic>
      <p:sp>
        <p:nvSpPr>
          <p:cNvPr id="19" name="Text 1">
            <a:extLst>
              <a:ext uri="{FF2B5EF4-FFF2-40B4-BE49-F238E27FC236}">
                <a16:creationId xmlns:a16="http://schemas.microsoft.com/office/drawing/2014/main" id="{638CF5AA-7A8A-4A4E-8543-A5067652602D}"/>
              </a:ext>
            </a:extLst>
          </p:cNvPr>
          <p:cNvSpPr/>
          <p:nvPr/>
        </p:nvSpPr>
        <p:spPr>
          <a:xfrm>
            <a:off x="2099849" y="2990576"/>
            <a:ext cx="4944302" cy="18466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s-MX" sz="1200" b="1" dirty="0">
                <a:solidFill>
                  <a:srgbClr val="00B0F0"/>
                </a:solidFill>
                <a:latin typeface="Noto Sans"/>
              </a:rPr>
              <a:t>¿Qué porcentaje del sueño corresponde a cada fase (REM, profundo, ligero)?</a:t>
            </a:r>
            <a:endParaRPr lang="en-US" sz="1200" b="1" dirty="0">
              <a:solidFill>
                <a:srgbClr val="00B0F0"/>
              </a:solidFill>
              <a:latin typeface="Noto Sans"/>
            </a:endParaRPr>
          </a:p>
        </p:txBody>
      </p:sp>
      <p:pic>
        <p:nvPicPr>
          <p:cNvPr id="20" name="Image 1" descr="preencoded.png">
            <a:extLst>
              <a:ext uri="{FF2B5EF4-FFF2-40B4-BE49-F238E27FC236}">
                <a16:creationId xmlns:a16="http://schemas.microsoft.com/office/drawing/2014/main" id="{44E370AA-2FF4-487C-AC11-AF3A752C68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7691" y="3008526"/>
            <a:ext cx="171450" cy="171450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3B627B1E-E5DE-4567-9266-1CA1A078FE6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1" r="10201" b="7895"/>
          <a:stretch>
            <a:fillRect/>
          </a:stretch>
        </p:blipFill>
        <p:spPr>
          <a:xfrm>
            <a:off x="3468679" y="3329371"/>
            <a:ext cx="2446598" cy="903749"/>
          </a:xfrm>
          <a:prstGeom prst="rect">
            <a:avLst/>
          </a:prstGeom>
        </p:spPr>
      </p:pic>
      <p:sp>
        <p:nvSpPr>
          <p:cNvPr id="23" name="Text 1">
            <a:extLst>
              <a:ext uri="{FF2B5EF4-FFF2-40B4-BE49-F238E27FC236}">
                <a16:creationId xmlns:a16="http://schemas.microsoft.com/office/drawing/2014/main" id="{D1813320-E83B-4898-AA57-E921CEEC8049}"/>
              </a:ext>
            </a:extLst>
          </p:cNvPr>
          <p:cNvSpPr/>
          <p:nvPr/>
        </p:nvSpPr>
        <p:spPr>
          <a:xfrm>
            <a:off x="4737704" y="791457"/>
            <a:ext cx="3690241" cy="18466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s-MX" sz="1200" b="1" dirty="0">
                <a:solidFill>
                  <a:srgbClr val="00B0F0"/>
                </a:solidFill>
                <a:latin typeface="Noto Sans"/>
              </a:rPr>
              <a:t>¿Qué factores externos afectan más la calidad del sueño?</a:t>
            </a:r>
            <a:endParaRPr lang="en-US" sz="1200" b="1" dirty="0">
              <a:solidFill>
                <a:srgbClr val="00B0F0"/>
              </a:solidFill>
              <a:latin typeface="Noto Sans"/>
            </a:endParaRPr>
          </a:p>
        </p:txBody>
      </p:sp>
      <p:pic>
        <p:nvPicPr>
          <p:cNvPr id="24" name="Image 1" descr="preencoded.png">
            <a:extLst>
              <a:ext uri="{FF2B5EF4-FFF2-40B4-BE49-F238E27FC236}">
                <a16:creationId xmlns:a16="http://schemas.microsoft.com/office/drawing/2014/main" id="{35491A8F-D1AD-4E2F-88BF-4A357BE30F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3478" y="814476"/>
            <a:ext cx="171450" cy="171450"/>
          </a:xfrm>
          <a:prstGeom prst="rect">
            <a:avLst/>
          </a:prstGeom>
        </p:spPr>
      </p:pic>
      <p:pic>
        <p:nvPicPr>
          <p:cNvPr id="26" name="Imagen 25">
            <a:extLst>
              <a:ext uri="{FF2B5EF4-FFF2-40B4-BE49-F238E27FC236}">
                <a16:creationId xmlns:a16="http://schemas.microsoft.com/office/drawing/2014/main" id="{0A9537F0-6888-4115-B146-CC4F87C60EB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65744" y="1040743"/>
            <a:ext cx="2740336" cy="1776326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B08616D3-E4E9-5EC9-6BC1-CA55D154F9AF}"/>
              </a:ext>
            </a:extLst>
          </p:cNvPr>
          <p:cNvSpPr/>
          <p:nvPr/>
        </p:nvSpPr>
        <p:spPr>
          <a:xfrm>
            <a:off x="285750" y="266023"/>
            <a:ext cx="1998945" cy="397545"/>
          </a:xfrm>
          <a:prstGeom prst="rect">
            <a:avLst/>
          </a:prstGeom>
          <a:noFill/>
          <a:ln/>
        </p:spPr>
        <p:txBody>
          <a:bodyPr wrap="none" lIns="0" tIns="0" rIns="0" bIns="8509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Análisis de </a:t>
            </a:r>
            <a:r>
              <a:rPr lang="en-US" sz="2025" b="1" dirty="0" err="1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datos</a:t>
            </a:r>
            <a:endParaRPr lang="en-US" sz="20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07A89-E61F-F917-D25C-9EBE6A95B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>
            <a:extLst>
              <a:ext uri="{FF2B5EF4-FFF2-40B4-BE49-F238E27FC236}">
                <a16:creationId xmlns:a16="http://schemas.microsoft.com/office/drawing/2014/main" id="{4C5CFEB3-55BB-1C0D-DA6E-F053F3071179}"/>
              </a:ext>
            </a:extLst>
          </p:cNvPr>
          <p:cNvSpPr/>
          <p:nvPr/>
        </p:nvSpPr>
        <p:spPr>
          <a:xfrm>
            <a:off x="1394340" y="794253"/>
            <a:ext cx="2646558" cy="18466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s-MX" sz="1200" b="1" dirty="0">
                <a:solidFill>
                  <a:srgbClr val="00B0F0"/>
                </a:solidFill>
                <a:latin typeface="Noto Sans"/>
              </a:rPr>
              <a:t>Interrupciones y calidad de sueño.</a:t>
            </a:r>
            <a:endParaRPr lang="en-US" sz="1200" b="1" dirty="0">
              <a:solidFill>
                <a:srgbClr val="00B0F0"/>
              </a:solidFill>
              <a:latin typeface="Noto Sans"/>
            </a:endParaRPr>
          </a:p>
        </p:txBody>
      </p:sp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8BA3932B-6BA2-6C6F-31FB-542F6792BE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6747" y="807469"/>
            <a:ext cx="171450" cy="171450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02F08E47-FFF2-1FA3-AD06-AAC7C122C4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646838"/>
            <a:ext cx="9144000" cy="497541"/>
          </a:xfrm>
          <a:prstGeom prst="rect">
            <a:avLst/>
          </a:prstGeom>
        </p:spPr>
      </p:pic>
      <p:sp>
        <p:nvSpPr>
          <p:cNvPr id="23" name="Text 1">
            <a:extLst>
              <a:ext uri="{FF2B5EF4-FFF2-40B4-BE49-F238E27FC236}">
                <a16:creationId xmlns:a16="http://schemas.microsoft.com/office/drawing/2014/main" id="{65A62304-F9A5-84C4-CC47-0A08CC5DF50C}"/>
              </a:ext>
            </a:extLst>
          </p:cNvPr>
          <p:cNvSpPr/>
          <p:nvPr/>
        </p:nvSpPr>
        <p:spPr>
          <a:xfrm>
            <a:off x="5506444" y="1398357"/>
            <a:ext cx="2311530" cy="18466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s-MX" sz="1200" b="1" dirty="0">
                <a:solidFill>
                  <a:srgbClr val="00B0F0"/>
                </a:solidFill>
                <a:latin typeface="Noto Sans"/>
              </a:rPr>
              <a:t>Ocupación y calidad de sueño.</a:t>
            </a:r>
            <a:endParaRPr lang="en-US" sz="1200" b="1" dirty="0">
              <a:solidFill>
                <a:srgbClr val="00B0F0"/>
              </a:solidFill>
              <a:latin typeface="Noto Sans"/>
            </a:endParaRPr>
          </a:p>
        </p:txBody>
      </p:sp>
      <p:pic>
        <p:nvPicPr>
          <p:cNvPr id="24" name="Image 1" descr="preencoded.png">
            <a:extLst>
              <a:ext uri="{FF2B5EF4-FFF2-40B4-BE49-F238E27FC236}">
                <a16:creationId xmlns:a16="http://schemas.microsoft.com/office/drawing/2014/main" id="{ADF66121-71C6-A9DB-4FCB-53BE1CEE54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1758" y="1421376"/>
            <a:ext cx="171450" cy="171450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B3F146F2-08E7-A05E-735D-43BA8AE65DF8}"/>
              </a:ext>
            </a:extLst>
          </p:cNvPr>
          <p:cNvSpPr/>
          <p:nvPr/>
        </p:nvSpPr>
        <p:spPr>
          <a:xfrm>
            <a:off x="285750" y="266023"/>
            <a:ext cx="1998945" cy="397545"/>
          </a:xfrm>
          <a:prstGeom prst="rect">
            <a:avLst/>
          </a:prstGeom>
          <a:noFill/>
          <a:ln/>
        </p:spPr>
        <p:txBody>
          <a:bodyPr wrap="none" lIns="0" tIns="0" rIns="0" bIns="8509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Análisis de </a:t>
            </a:r>
            <a:r>
              <a:rPr lang="en-US" sz="2025" b="1" dirty="0" err="1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datos</a:t>
            </a:r>
            <a:endParaRPr lang="en-US" sz="2025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22B14EA-2373-F9A2-6424-DB3186BD44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838" y="1068163"/>
            <a:ext cx="3385817" cy="307496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02E3BCED-1F00-F81A-3E7D-D6FC62F055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67550" y="1667299"/>
            <a:ext cx="2972215" cy="1876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7441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BD7DDE-0C74-6C50-40A8-099257642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>
            <a:extLst>
              <a:ext uri="{FF2B5EF4-FFF2-40B4-BE49-F238E27FC236}">
                <a16:creationId xmlns:a16="http://schemas.microsoft.com/office/drawing/2014/main" id="{901BE7D8-E44F-BF51-A036-484442D863A6}"/>
              </a:ext>
            </a:extLst>
          </p:cNvPr>
          <p:cNvSpPr/>
          <p:nvPr/>
        </p:nvSpPr>
        <p:spPr>
          <a:xfrm>
            <a:off x="431392" y="708528"/>
            <a:ext cx="3688007" cy="3693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s-MX" sz="1200" b="1" dirty="0">
                <a:solidFill>
                  <a:srgbClr val="00B0F0"/>
                </a:solidFill>
                <a:latin typeface="Noto Sans"/>
              </a:rPr>
              <a:t>Comparar duración total de sueño vs calidad percibida.</a:t>
            </a:r>
            <a:endParaRPr lang="en-US" sz="1200" b="1" dirty="0">
              <a:solidFill>
                <a:srgbClr val="00B0F0"/>
              </a:solidFill>
              <a:latin typeface="Noto Sans"/>
            </a:endParaRPr>
          </a:p>
        </p:txBody>
      </p:sp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7BAF4651-FE73-0B0A-9E4C-E04D56409A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271" y="726549"/>
            <a:ext cx="171450" cy="171450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B61A99C9-4E80-182F-815A-A40FD8021B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646838"/>
            <a:ext cx="9144000" cy="497541"/>
          </a:xfrm>
          <a:prstGeom prst="rect">
            <a:avLst/>
          </a:prstGeom>
        </p:spPr>
      </p:pic>
      <p:sp>
        <p:nvSpPr>
          <p:cNvPr id="23" name="Text 1">
            <a:extLst>
              <a:ext uri="{FF2B5EF4-FFF2-40B4-BE49-F238E27FC236}">
                <a16:creationId xmlns:a16="http://schemas.microsoft.com/office/drawing/2014/main" id="{8D729534-1BBD-0AD5-90BC-6FFA70BEF289}"/>
              </a:ext>
            </a:extLst>
          </p:cNvPr>
          <p:cNvSpPr/>
          <p:nvPr/>
        </p:nvSpPr>
        <p:spPr>
          <a:xfrm>
            <a:off x="5118028" y="1217012"/>
            <a:ext cx="3812173" cy="3693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s-MX" sz="1200" b="1" dirty="0">
                <a:solidFill>
                  <a:srgbClr val="00B0F0"/>
                </a:solidFill>
                <a:latin typeface="Noto Sans"/>
              </a:rPr>
              <a:t>Relación peso/altura (IMC aproximado) vs calidad del sueño.</a:t>
            </a:r>
            <a:endParaRPr lang="en-US" sz="1200" b="1" dirty="0">
              <a:solidFill>
                <a:srgbClr val="00B0F0"/>
              </a:solidFill>
              <a:latin typeface="Noto Sans"/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40C71537-7688-7C01-2352-22ADF21D3C3E}"/>
              </a:ext>
            </a:extLst>
          </p:cNvPr>
          <p:cNvSpPr/>
          <p:nvPr/>
        </p:nvSpPr>
        <p:spPr>
          <a:xfrm>
            <a:off x="285750" y="266023"/>
            <a:ext cx="1998945" cy="397545"/>
          </a:xfrm>
          <a:prstGeom prst="rect">
            <a:avLst/>
          </a:prstGeom>
          <a:noFill/>
          <a:ln/>
        </p:spPr>
        <p:txBody>
          <a:bodyPr wrap="none" lIns="0" tIns="0" rIns="0" bIns="8509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Análisis de </a:t>
            </a:r>
            <a:r>
              <a:rPr lang="en-US" sz="2025" b="1" dirty="0" err="1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datos</a:t>
            </a:r>
            <a:endParaRPr lang="en-US" sz="2025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CDA9FABE-7A6E-F9EB-25FE-2A9D4EC4DD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736" y="1109604"/>
            <a:ext cx="3833663" cy="3293711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A8A8F2EE-FB04-1720-F99E-1F497263C0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74120" y="1638169"/>
            <a:ext cx="3229832" cy="2268986"/>
          </a:xfrm>
          <a:prstGeom prst="rect">
            <a:avLst/>
          </a:prstGeom>
        </p:spPr>
      </p:pic>
      <p:pic>
        <p:nvPicPr>
          <p:cNvPr id="11" name="Image 1" descr="preencoded.png">
            <a:extLst>
              <a:ext uri="{FF2B5EF4-FFF2-40B4-BE49-F238E27FC236}">
                <a16:creationId xmlns:a16="http://schemas.microsoft.com/office/drawing/2014/main" id="{3386D494-DF62-B7A6-65A7-5659761CF4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9980" y="1236345"/>
            <a:ext cx="171450" cy="171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641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F636A-BF56-CC3F-3584-D239637D9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>
            <a:extLst>
              <a:ext uri="{FF2B5EF4-FFF2-40B4-BE49-F238E27FC236}">
                <a16:creationId xmlns:a16="http://schemas.microsoft.com/office/drawing/2014/main" id="{EE973AD5-2078-CFA7-0B26-09FE42D63B30}"/>
              </a:ext>
            </a:extLst>
          </p:cNvPr>
          <p:cNvSpPr/>
          <p:nvPr/>
        </p:nvSpPr>
        <p:spPr>
          <a:xfrm>
            <a:off x="674152" y="794253"/>
            <a:ext cx="2927083" cy="18466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s-MX" sz="1200" b="1" dirty="0">
                <a:solidFill>
                  <a:srgbClr val="00B0F0"/>
                </a:solidFill>
                <a:latin typeface="Noto Sans"/>
              </a:rPr>
              <a:t>Lugar de descanso y calidad de sueño.</a:t>
            </a:r>
            <a:endParaRPr lang="en-US" sz="1200" b="1" dirty="0">
              <a:solidFill>
                <a:srgbClr val="00B0F0"/>
              </a:solidFill>
              <a:latin typeface="Noto Sans"/>
            </a:endParaRPr>
          </a:p>
        </p:txBody>
      </p:sp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8D25E35A-4BD2-D16C-A8F0-312B0548AE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559" y="807469"/>
            <a:ext cx="171450" cy="171450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48ABF65F-A9F8-9D7C-BA66-460F17EB1B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646838"/>
            <a:ext cx="9144000" cy="497541"/>
          </a:xfrm>
          <a:prstGeom prst="rect">
            <a:avLst/>
          </a:prstGeom>
        </p:spPr>
      </p:pic>
      <p:sp>
        <p:nvSpPr>
          <p:cNvPr id="23" name="Text 1">
            <a:extLst>
              <a:ext uri="{FF2B5EF4-FFF2-40B4-BE49-F238E27FC236}">
                <a16:creationId xmlns:a16="http://schemas.microsoft.com/office/drawing/2014/main" id="{A3A6AF93-230D-A358-6BC6-C3DCC9B34CF4}"/>
              </a:ext>
            </a:extLst>
          </p:cNvPr>
          <p:cNvSpPr/>
          <p:nvPr/>
        </p:nvSpPr>
        <p:spPr>
          <a:xfrm>
            <a:off x="4341196" y="791457"/>
            <a:ext cx="4045979" cy="18466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s-MX" sz="1200" b="1" dirty="0">
                <a:solidFill>
                  <a:srgbClr val="00B0F0"/>
                </a:solidFill>
                <a:latin typeface="Noto Sans"/>
              </a:rPr>
              <a:t>Identificar por usuario y sesión los factores externos</a:t>
            </a:r>
            <a:endParaRPr lang="en-US" sz="1200" b="1" dirty="0">
              <a:solidFill>
                <a:srgbClr val="00B0F0"/>
              </a:solidFill>
              <a:latin typeface="Noto Sans"/>
            </a:endParaRPr>
          </a:p>
        </p:txBody>
      </p:sp>
      <p:pic>
        <p:nvPicPr>
          <p:cNvPr id="24" name="Image 1" descr="preencoded.png">
            <a:extLst>
              <a:ext uri="{FF2B5EF4-FFF2-40B4-BE49-F238E27FC236}">
                <a16:creationId xmlns:a16="http://schemas.microsoft.com/office/drawing/2014/main" id="{DA22099B-6021-7159-A1ED-B859DEDA00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6510" y="814476"/>
            <a:ext cx="171450" cy="171450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EEFC158A-D687-7D55-D213-E253FC9EEFAA}"/>
              </a:ext>
            </a:extLst>
          </p:cNvPr>
          <p:cNvSpPr/>
          <p:nvPr/>
        </p:nvSpPr>
        <p:spPr>
          <a:xfrm>
            <a:off x="285750" y="266023"/>
            <a:ext cx="1998945" cy="397545"/>
          </a:xfrm>
          <a:prstGeom prst="rect">
            <a:avLst/>
          </a:prstGeom>
          <a:noFill/>
          <a:ln/>
        </p:spPr>
        <p:txBody>
          <a:bodyPr wrap="none" lIns="0" tIns="0" rIns="0" bIns="8509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Análisis de </a:t>
            </a:r>
            <a:r>
              <a:rPr lang="en-US" sz="2025" b="1" dirty="0" err="1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datos</a:t>
            </a:r>
            <a:endParaRPr lang="en-US" sz="2025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02E75ACA-704A-5FBE-E58C-8A03256BE3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643" y="1102306"/>
            <a:ext cx="2815801" cy="335871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7943E75C-31FE-5182-EE18-3D906E0892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51808" y="1102306"/>
            <a:ext cx="4797356" cy="3364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8959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285750" y="739216"/>
            <a:ext cx="1542666" cy="207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Hallazgos Principales</a:t>
            </a:r>
            <a:endParaRPr lang="en-US" sz="13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0" y="1201668"/>
            <a:ext cx="171450" cy="1714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64356" y="1216476"/>
            <a:ext cx="3900488" cy="3218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La duración óptima del sueño se sitúa entre 6-8 horas, asociada con mejor calidad percibida.</a:t>
            </a:r>
            <a:endParaRPr lang="en-US" sz="1046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0" y="1773168"/>
            <a:ext cx="171450" cy="1714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64356" y="1781844"/>
            <a:ext cx="3900488" cy="3218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Las condiciones ambientales ideales incluyen temperatura moderada (22-26°C), bajo nivel de ruido y baja iluminación.</a:t>
            </a:r>
            <a:endParaRPr lang="en-US" sz="1046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0" y="2283853"/>
            <a:ext cx="171450" cy="17145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564356" y="2282476"/>
            <a:ext cx="3900488" cy="3218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Las interrupciones durante el sueño </a:t>
            </a:r>
            <a:r>
              <a:rPr lang="en-US" sz="1046" dirty="0" err="1">
                <a:latin typeface="Noto Sans" pitchFamily="34" charset="0"/>
                <a:ea typeface="Noto Sans" pitchFamily="34" charset="-122"/>
                <a:cs typeface="Noto Sans" pitchFamily="34" charset="-120"/>
              </a:rPr>
              <a:t>tienen</a:t>
            </a:r>
            <a:r>
              <a:rPr lang="en-US" sz="1046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046" dirty="0" err="1">
                <a:latin typeface="Noto Sans" pitchFamily="34" charset="0"/>
                <a:ea typeface="Noto Sans" pitchFamily="34" charset="-122"/>
                <a:cs typeface="Noto Sans" pitchFamily="34" charset="-120"/>
              </a:rPr>
              <a:t>cierto</a:t>
            </a:r>
            <a:r>
              <a:rPr lang="en-US" sz="1046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046" dirty="0" err="1">
                <a:latin typeface="Noto Sans" pitchFamily="34" charset="0"/>
                <a:ea typeface="Noto Sans" pitchFamily="34" charset="-122"/>
                <a:cs typeface="Noto Sans" pitchFamily="34" charset="-120"/>
              </a:rPr>
              <a:t>impactoen</a:t>
            </a:r>
            <a:r>
              <a:rPr lang="en-US" sz="1046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 la calidad percibida.</a:t>
            </a:r>
            <a:endParaRPr lang="en-US" sz="1046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0" y="2855353"/>
            <a:ext cx="171450" cy="17145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564356" y="2862068"/>
            <a:ext cx="3900488" cy="3218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La </a:t>
            </a:r>
            <a:r>
              <a:rPr lang="en-US" sz="1046" dirty="0" err="1">
                <a:latin typeface="Noto Sans" pitchFamily="34" charset="0"/>
                <a:ea typeface="Noto Sans" pitchFamily="34" charset="-122"/>
                <a:cs typeface="Noto Sans" pitchFamily="34" charset="-120"/>
              </a:rPr>
              <a:t>ocupación</a:t>
            </a:r>
            <a:r>
              <a:rPr lang="en-US" sz="1046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 y el nivel de estrés laboral muestran correlación con la calidad del </a:t>
            </a:r>
            <a:r>
              <a:rPr lang="en-US" sz="1046" dirty="0" err="1">
                <a:latin typeface="Noto Sans" pitchFamily="34" charset="0"/>
                <a:ea typeface="Noto Sans" pitchFamily="34" charset="-122"/>
                <a:cs typeface="Noto Sans" pitchFamily="34" charset="-120"/>
              </a:rPr>
              <a:t>sueño</a:t>
            </a:r>
            <a:r>
              <a:rPr lang="en-US" sz="1046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046" dirty="0" err="1">
                <a:latin typeface="Noto Sans" pitchFamily="34" charset="0"/>
                <a:ea typeface="Noto Sans" pitchFamily="34" charset="-122"/>
                <a:cs typeface="Noto Sans" pitchFamily="34" charset="-120"/>
              </a:rPr>
              <a:t>en</a:t>
            </a:r>
            <a:r>
              <a:rPr lang="en-US" sz="1046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046" dirty="0" err="1">
                <a:latin typeface="Noto Sans" pitchFamily="34" charset="0"/>
                <a:ea typeface="Noto Sans" pitchFamily="34" charset="-122"/>
                <a:cs typeface="Noto Sans" pitchFamily="34" charset="-120"/>
              </a:rPr>
              <a:t>moderada</a:t>
            </a:r>
            <a:r>
              <a:rPr lang="en-US" sz="1046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046" dirty="0" err="1">
                <a:latin typeface="Noto Sans" pitchFamily="34" charset="0"/>
                <a:ea typeface="Noto Sans" pitchFamily="34" charset="-122"/>
                <a:cs typeface="Noto Sans" pitchFamily="34" charset="-120"/>
              </a:rPr>
              <a:t>medida</a:t>
            </a:r>
            <a:r>
              <a:rPr lang="en-US" sz="1046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.</a:t>
            </a:r>
            <a:endParaRPr lang="en-US" sz="1046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0" y="3426853"/>
            <a:ext cx="171450" cy="171450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564356" y="3433568"/>
            <a:ext cx="3900488" cy="3218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El</a:t>
            </a:r>
            <a:r>
              <a:rPr lang="en-US" sz="1046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046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lugar de descanso influye en la calidad del sueño, siendo la sala el ambiente más favorable en este estudio.</a:t>
            </a:r>
            <a:endParaRPr lang="en-US" sz="1046" dirty="0"/>
          </a:p>
        </p:txBody>
      </p:sp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2766" y="1576229"/>
            <a:ext cx="3571875" cy="2005329"/>
          </a:xfrm>
          <a:prstGeom prst="rect">
            <a:avLst/>
          </a:prstGeom>
        </p:spPr>
      </p:pic>
      <p:sp>
        <p:nvSpPr>
          <p:cNvPr id="19" name="Text 0">
            <a:extLst>
              <a:ext uri="{FF2B5EF4-FFF2-40B4-BE49-F238E27FC236}">
                <a16:creationId xmlns:a16="http://schemas.microsoft.com/office/drawing/2014/main" id="{244C30E5-EBAA-806D-99E4-7B9589D7B441}"/>
              </a:ext>
            </a:extLst>
          </p:cNvPr>
          <p:cNvSpPr/>
          <p:nvPr/>
        </p:nvSpPr>
        <p:spPr>
          <a:xfrm>
            <a:off x="285750" y="266023"/>
            <a:ext cx="1577355" cy="397545"/>
          </a:xfrm>
          <a:prstGeom prst="rect">
            <a:avLst/>
          </a:prstGeom>
          <a:noFill/>
          <a:ln/>
        </p:spPr>
        <p:txBody>
          <a:bodyPr wrap="none" lIns="0" tIns="0" rIns="0" bIns="8509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Conclusiones</a:t>
            </a:r>
            <a:endParaRPr lang="en-US" sz="2025" dirty="0"/>
          </a:p>
        </p:txBody>
      </p:sp>
      <p:sp>
        <p:nvSpPr>
          <p:cNvPr id="16" name="Text 7"/>
          <p:cNvSpPr/>
          <p:nvPr/>
        </p:nvSpPr>
        <p:spPr>
          <a:xfrm>
            <a:off x="5541039" y="3938746"/>
            <a:ext cx="2455329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575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¡Gracias por su atención! </a:t>
            </a:r>
            <a:endParaRPr lang="en-US" sz="1575" dirty="0"/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57A41141-3B08-4069-AD56-3B6AB0B6DF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646838"/>
            <a:ext cx="9144000" cy="497541"/>
          </a:xfrm>
          <a:prstGeom prst="rect">
            <a:avLst/>
          </a:prstGeom>
        </p:spPr>
      </p:pic>
      <p:pic>
        <p:nvPicPr>
          <p:cNvPr id="20" name="Image 5" descr="preencoded.png">
            <a:extLst>
              <a:ext uri="{FF2B5EF4-FFF2-40B4-BE49-F238E27FC236}">
                <a16:creationId xmlns:a16="http://schemas.microsoft.com/office/drawing/2014/main" id="{364C19D3-872C-8C7D-8DB5-6EC14BCC84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0" y="3951541"/>
            <a:ext cx="171450" cy="171450"/>
          </a:xfrm>
          <a:prstGeom prst="rect">
            <a:avLst/>
          </a:prstGeom>
        </p:spPr>
      </p:pic>
      <p:sp>
        <p:nvSpPr>
          <p:cNvPr id="21" name="Text 6">
            <a:extLst>
              <a:ext uri="{FF2B5EF4-FFF2-40B4-BE49-F238E27FC236}">
                <a16:creationId xmlns:a16="http://schemas.microsoft.com/office/drawing/2014/main" id="{BBECF211-B93E-7694-5486-C52D6CF22E75}"/>
              </a:ext>
            </a:extLst>
          </p:cNvPr>
          <p:cNvSpPr/>
          <p:nvPr/>
        </p:nvSpPr>
        <p:spPr>
          <a:xfrm>
            <a:off x="564356" y="3958256"/>
            <a:ext cx="3900488" cy="3218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En general, la Buena o mala </a:t>
            </a:r>
            <a:r>
              <a:rPr lang="en-US" sz="1046" dirty="0" err="1">
                <a:latin typeface="Noto Sans" pitchFamily="34" charset="0"/>
                <a:ea typeface="Noto Sans" pitchFamily="34" charset="-122"/>
                <a:cs typeface="Noto Sans" pitchFamily="34" charset="-120"/>
              </a:rPr>
              <a:t>calidad</a:t>
            </a:r>
            <a:r>
              <a:rPr lang="en-US" sz="1046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 del </a:t>
            </a:r>
            <a:r>
              <a:rPr lang="en-US" sz="1046" dirty="0" err="1">
                <a:latin typeface="Noto Sans" pitchFamily="34" charset="0"/>
                <a:ea typeface="Noto Sans" pitchFamily="34" charset="-122"/>
                <a:cs typeface="Noto Sans" pitchFamily="34" charset="-120"/>
              </a:rPr>
              <a:t>sueño</a:t>
            </a:r>
            <a:r>
              <a:rPr lang="en-US" sz="1046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 es multicausal, o no se </a:t>
            </a:r>
            <a:r>
              <a:rPr lang="en-US" sz="1046" dirty="0" err="1">
                <a:latin typeface="Noto Sans" pitchFamily="34" charset="0"/>
                <a:ea typeface="Noto Sans" pitchFamily="34" charset="-122"/>
                <a:cs typeface="Noto Sans" pitchFamily="34" charset="-120"/>
              </a:rPr>
              <a:t>adhiere</a:t>
            </a:r>
            <a:r>
              <a:rPr lang="en-US" sz="1046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 a un factor </a:t>
            </a:r>
            <a:r>
              <a:rPr lang="en-US" sz="1046" dirty="0" err="1">
                <a:latin typeface="Noto Sans" pitchFamily="34" charset="0"/>
                <a:ea typeface="Noto Sans" pitchFamily="34" charset="-122"/>
                <a:cs typeface="Noto Sans" pitchFamily="34" charset="-120"/>
              </a:rPr>
              <a:t>en</a:t>
            </a:r>
            <a:r>
              <a:rPr lang="en-US" sz="1046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046" dirty="0" err="1">
                <a:latin typeface="Noto Sans" pitchFamily="34" charset="0"/>
                <a:ea typeface="Noto Sans" pitchFamily="34" charset="-122"/>
                <a:cs typeface="Noto Sans" pitchFamily="34" charset="-120"/>
              </a:rPr>
              <a:t>específico</a:t>
            </a:r>
            <a:r>
              <a:rPr lang="en-US" sz="1046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. Es </a:t>
            </a:r>
            <a:r>
              <a:rPr lang="en-US" sz="1046" dirty="0" err="1">
                <a:latin typeface="Noto Sans" pitchFamily="34" charset="0"/>
                <a:ea typeface="Noto Sans" pitchFamily="34" charset="-122"/>
                <a:cs typeface="Noto Sans" pitchFamily="34" charset="-120"/>
              </a:rPr>
              <a:t>complejo</a:t>
            </a:r>
            <a:r>
              <a:rPr lang="en-US" sz="1046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.</a:t>
            </a:r>
            <a:endParaRPr lang="en-US" sz="1046" dirty="0"/>
          </a:p>
        </p:txBody>
      </p:sp>
    </p:spTree>
    <p:extLst>
      <p:ext uri="{BB962C8B-B14F-4D97-AF65-F5344CB8AC3E}">
        <p14:creationId xmlns:p14="http://schemas.microsoft.com/office/powerpoint/2010/main" val="5587478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92BB5A-7043-F59B-C34F-5EDB72B66F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2312560"/>
            <a:ext cx="6858000" cy="1181877"/>
          </a:xfrm>
        </p:spPr>
        <p:txBody>
          <a:bodyPr/>
          <a:lstStyle/>
          <a:p>
            <a:pPr algn="ctr"/>
            <a:r>
              <a:rPr lang="es-MX" dirty="0"/>
              <a:t>¡Muchas gracias!</a:t>
            </a:r>
            <a:endParaRPr lang="es-EC" dirty="0"/>
          </a:p>
        </p:txBody>
      </p:sp>
      <p:sp>
        <p:nvSpPr>
          <p:cNvPr id="4" name="Google Shape;141;p20">
            <a:extLst>
              <a:ext uri="{FF2B5EF4-FFF2-40B4-BE49-F238E27FC236}">
                <a16:creationId xmlns:a16="http://schemas.microsoft.com/office/drawing/2014/main" id="{674C680C-C259-E7F6-45AB-A800FA36DC7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50284" y="217000"/>
            <a:ext cx="459043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s"/>
              <a:t>11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991116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</TotalTime>
  <Words>505</Words>
  <Application>Microsoft Office PowerPoint</Application>
  <PresentationFormat>Presentación en pantalla (16:9)</PresentationFormat>
  <Paragraphs>78</Paragraphs>
  <Slides>11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8" baseType="lpstr">
      <vt:lpstr>Arial</vt:lpstr>
      <vt:lpstr>Fira Code</vt:lpstr>
      <vt:lpstr>Lato Extended</vt:lpstr>
      <vt:lpstr>Montserrat</vt:lpstr>
      <vt:lpstr>Noto Sans</vt:lpstr>
      <vt:lpstr>Roboto</vt:lpstr>
      <vt:lpstr>Office Theme</vt:lpstr>
      <vt:lpstr>Análisis de Patrones de Sueño.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¡Muchas gracias!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Katherine Sheila Forero Villota</cp:lastModifiedBy>
  <cp:revision>9</cp:revision>
  <dcterms:created xsi:type="dcterms:W3CDTF">2025-09-20T00:05:34Z</dcterms:created>
  <dcterms:modified xsi:type="dcterms:W3CDTF">2025-09-20T04:26:46Z</dcterms:modified>
</cp:coreProperties>
</file>